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6fd6ab5-1b72-943d-8aca-805a01e86519}">
          <p14:sldIdLst>
            <p14:sldId id="256"/>
            <p14:sldId id="257"/>
          </p14:sldIdLst>
        </p14:section>
        <p14:section name="Users" id="{e633b532-8841-8b09-9528-0bf35044f64a}">
          <p14:sldIdLst>
            <p14:sldId id="258"/>
            <p14:sldId id="259"/>
            <p14:sldId id="260"/>
          </p14:sldIdLst>
        </p14:section>
        <p14:section name="Research" id="{bfe635dc-9045-48ff-a7db-55225b8bb1a3}">
          <p14:sldIdLst>
            <p14:sldId id="261"/>
            <p14:sldId id="262"/>
            <p14:sldId id="263"/>
          </p14:sldIdLst>
        </p14:section>
        <p14:section name="Metric" id="{dad4b4fc-8893-f278-344d-078d95e87f76}">
          <p14:sldIdLst>
            <p14:sldId id="264"/>
            <p14:sldId id="265"/>
            <p14:sldId id="266"/>
          </p14:sldIdLst>
        </p14:section>
        <p14:section name="Product" id="{ddca2049-4e88-1aec-7292-f203ef8a0f82}">
          <p14:sldIdLst>
            <p14:sldId id="267"/>
            <p14:sldId id="268"/>
            <p14:sldId id="269"/>
            <p14:sldId id="270"/>
          </p14:sldIdLst>
        </p14:section>
        <p14:section name="Design" id="{307505a2-701d-62e1-1393-a91d27a93a21}">
          <p14:sldIdLst>
            <p14:sldId id="271"/>
            <p14:sldId id="272"/>
            <p14:sldId id="273"/>
          </p14:sldIdLst>
        </p14:section>
        <p14:section name="Build" id="{40c014ad-aa92-4b2f-1222-b5ef9ef37424}">
          <p14:sldIdLst>
            <p14:sldId id="274"/>
            <p14:sldId id="275"/>
          </p14:sldIdLst>
        </p14:section>
        <p14:section name="Metrics" id="{86c11ce5-7468-5828-de72-84de9cc5662e}">
          <p14:sldIdLst>
            <p14:sldId id="276"/>
            <p14:sldId id="277"/>
            <p14:sldId id="278"/>
          </p14:sldIdLst>
        </p14:section>
        <p14:section name="Go to market" id="{c0c82ab9-3674-053b-09d1-5b588350c47f}">
          <p14:sldIdLst>
            <p14:sldId id="279"/>
            <p14:sldId id="280"/>
            <p14:sldId id="281"/>
          </p14:sldIdLst>
        </p14:section>
        <p14:section name="Risks" id="{d397bf3f-1118-5854-4299-576286a3b59d}">
          <p14:sldIdLst>
            <p14:sldId id="282"/>
            <p14:sldId id="283"/>
            <p14:sldId id="284"/>
          </p14:sldIdLst>
        </p14:section>
        <p14:section name="Close" id="{66237287-2c07-4b11-82e1-c4fb35b2cdf3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RICE</c:v>
                </c:pt>
              </c:strCache>
            </c:strRef>
          </c:tx>
          <c:spPr>
            <a:solidFill>
              <a:srgbClr val="1E4D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20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F2 Sideways opener picker</c:v>
                  </c:pt>
                  <c:pt idx="1">
                    <c:v>F4 What to avoid</c:v>
                  </c:pt>
                  <c:pt idx="2">
                    <c:v>F5 Pocket card</c:v>
                  </c:pt>
                  <c:pt idx="3">
                    <c:v>F3 “What they might say” + calm responses</c:v>
                  </c:pt>
                  <c:pt idx="4">
                    <c:v>F1 Tailored 5-minute prep guide</c:v>
                  </c:pt>
                  <c:pt idx="5">
                    <c:v>F7 Two-minute reflection</c:v>
                  </c:pt>
                  <c:pt idx="6">
                    <c:v>F6 Age-band tone</c:v>
                  </c:pt>
                  <c:pt idx="7">
                    <c:v>F8 Insight + next talk</c:v>
                  </c:pt>
                  <c:pt idx="8">
                    <c:v>F10 Safety escalation cards</c:v>
                  </c:pt>
                  <c:pt idx="9">
                    <c:v>F9 Journal / history</c:v>
                  </c:pt>
                  <c:pt idx="10">
                    <c:v>F12 “Pick your moment” reminder</c:v>
                  </c:pt>
                  <c:pt idx="11">
                    <c:v>F11 Hindi + Hinglish library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160</c:v>
                </c:pt>
                <c:pt idx="1">
                  <c:v>126</c:v>
                </c:pt>
                <c:pt idx="2">
                  <c:v>96</c:v>
                </c:pt>
                <c:pt idx="3">
                  <c:v>84</c:v>
                </c:pt>
                <c:pt idx="4">
                  <c:v>80</c:v>
                </c:pt>
                <c:pt idx="5">
                  <c:v>65.3</c:v>
                </c:pt>
                <c:pt idx="6">
                  <c:v>60</c:v>
                </c:pt>
                <c:pt idx="7">
                  <c:v>48</c:v>
                </c:pt>
                <c:pt idx="8">
                  <c:v>40.5</c:v>
                </c:pt>
                <c:pt idx="9">
                  <c:v>20</c:v>
                </c:pt>
                <c:pt idx="10">
                  <c:v>17.5</c:v>
                </c:pt>
                <c:pt idx="1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520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520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helps parents prepare for the conversations they keep putting off with their teen, have them offline, reflect, and plan the next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 is high, action is low. The gap is the how, not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9377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huklahimanshu20.github.io/Raise_project/" TargetMode="Externa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shuklahimanshu20.github.io/Raise_project/" TargetMode="Externa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talks that matter, prepared.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case study by Himanshu Shukla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949440" y="-548640"/>
            <a:ext cx="2743200" cy="2743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pic>
        <p:nvPicPr>
          <p:cNvPr id="5" name="cover screen" descr="/home/claude/shots/wel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411480"/>
            <a:ext cx="198589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talk every parent means to have, and doesn’t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of 14–19-year-olds want to talk about money, relationships, puberty, consent, online safety and pornography — but were never taught how, and don’t have the words to begin.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talk is postponed, avoided, or happens once as a lecture after something has gone wrong.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learn from friends, the internet and porn — and stop coming to their parents when it matters.</a:t>
            </a:r>
            <a:endParaRPr lang="en-US" sz="1600" dirty="0"/>
          </a:p>
        </p:txBody>
      </p:sp>
      <p:sp>
        <p:nvSpPr>
          <p:cNvPr id="4" name="stat card"/>
          <p:cNvSpPr/>
          <p:nvPr/>
        </p:nvSpPr>
        <p:spPr>
          <a:xfrm>
            <a:off x="5577840" y="114300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06440" y="1325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in 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in one school-based Indian study wanted sex education to be compulsory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8A3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in 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474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they actually discussed it with their adolescent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Pediatric Oncall Journal, parents’ views study [S1]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we’re building for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aged 35–60 · teens aged 14–19 · the parent is the only user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parents, one shared barrier: the first sentence</a:t>
            </a:r>
            <a:endParaRPr lang="en-US" sz="2400" dirty="0"/>
          </a:p>
        </p:txBody>
      </p:sp>
      <p:sp>
        <p:nvSpPr>
          <p:cNvPr id="3" name="persona 0"/>
          <p:cNvSpPr/>
          <p:nvPr/>
        </p:nvSpPr>
        <p:spPr>
          <a:xfrm>
            <a:off x="457200" y="10972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3908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Sunita, 44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but wordless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Daughter, 15 · puberty, relationships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517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the first line. After that I can manage.”</a:t>
            </a:r>
            <a:endParaRPr lang="en-US" sz="1400" dirty="0"/>
          </a:p>
        </p:txBody>
      </p:sp>
      <p:sp>
        <p:nvSpPr>
          <p:cNvPr id="10" name="persona 1"/>
          <p:cNvSpPr/>
          <p:nvPr/>
        </p:nvSpPr>
        <p:spPr>
          <a:xfrm>
            <a:off x="3273552" y="10972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1280160"/>
            <a:ext cx="502920" cy="50292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794" y="139080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42232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Rajesh, 52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142232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once, it went wrong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502152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Son, 18 · money, consent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502152" y="26517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start again without it being about last time?”</a:t>
            </a:r>
            <a:endParaRPr lang="en-US" sz="1400" dirty="0"/>
          </a:p>
        </p:txBody>
      </p:sp>
      <p:sp>
        <p:nvSpPr>
          <p:cNvPr id="17" name="persona 2"/>
          <p:cNvSpPr/>
          <p:nvPr/>
        </p:nvSpPr>
        <p:spPr>
          <a:xfrm>
            <a:off x="6089904" y="109728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18504" y="1280160"/>
            <a:ext cx="502920" cy="50292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146" y="139080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58584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Farah, 38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958584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Time-poor solo parent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318504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Son, 14 · online safety, porn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318504" y="26517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don’t need a course. I need a plan for tonight.”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personas — not based on research. Validate against real interviews.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framing</a:t>
            </a:r>
            <a:endParaRPr lang="en-US" sz="2400" dirty="0"/>
          </a:p>
        </p:txBody>
      </p:sp>
      <p:sp>
        <p:nvSpPr>
          <p:cNvPr id="3" name="frame label"/>
          <p:cNvSpPr/>
          <p:nvPr/>
        </p:nvSpPr>
        <p:spPr>
          <a:xfrm>
            <a:off x="457200" y="105156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0515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35–60 of teens 14–19</a:t>
            </a:r>
            <a:endParaRPr lang="en-US" sz="1500" dirty="0"/>
          </a:p>
        </p:txBody>
      </p:sp>
      <p:sp>
        <p:nvSpPr>
          <p:cNvPr id="6" name="frame label"/>
          <p:cNvSpPr/>
          <p:nvPr/>
        </p:nvSpPr>
        <p:spPr>
          <a:xfrm>
            <a:off x="457200" y="173736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373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373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honest, repeated talks on the six hard topics</a:t>
            </a:r>
            <a:endParaRPr lang="en-US" sz="1500" dirty="0"/>
          </a:p>
        </p:txBody>
      </p:sp>
      <p:sp>
        <p:nvSpPr>
          <p:cNvPr id="9" name="frame label"/>
          <p:cNvSpPr/>
          <p:nvPr/>
        </p:nvSpPr>
        <p:spPr>
          <a:xfrm>
            <a:off x="457200" y="242316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currently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231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the words, fear the questions, and have no one showing them what to say</a:t>
            </a:r>
            <a:endParaRPr lang="en-US" sz="1500" dirty="0"/>
          </a:p>
        </p:txBody>
      </p:sp>
      <p:sp>
        <p:nvSpPr>
          <p:cNvPr id="12" name="frame label"/>
          <p:cNvSpPr/>
          <p:nvPr/>
        </p:nvSpPr>
        <p:spPr>
          <a:xfrm>
            <a:off x="457200" y="310896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08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1089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or lectures — teens learn elsewhere and hide problems</a:t>
            </a:r>
            <a:endParaRPr lang="en-US" sz="1500" dirty="0"/>
          </a:p>
        </p:txBody>
      </p:sp>
      <p:sp>
        <p:nvSpPr>
          <p:cNvPr id="15" name="frame label"/>
          <p:cNvSpPr/>
          <p:nvPr/>
        </p:nvSpPr>
        <p:spPr>
          <a:xfrm>
            <a:off x="457200" y="3794760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7947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solve this by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7947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5-minute prep guide → talk offline in their own words → 2-minute reflection → next talk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Indian research + an interview guide for parents and teens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research points the same way</a:t>
            </a:r>
            <a:endParaRPr lang="en-US" sz="2400" dirty="0"/>
          </a:p>
        </p:txBody>
      </p:sp>
      <p:sp>
        <p:nvSpPr>
          <p:cNvPr id="3" name="research card"/>
          <p:cNvSpPr/>
          <p:nvPr/>
        </p:nvSpPr>
        <p:spPr>
          <a:xfrm>
            <a:off x="457200" y="10972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parents who believed in sexuality education gave it themselves; discomfort was a common reason others didn’t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[S2] Manipal, coastal South India</a:t>
            </a:r>
            <a:endParaRPr lang="en-US" sz="950" dirty="0"/>
          </a:p>
        </p:txBody>
      </p:sp>
      <p:sp>
        <p:nvSpPr>
          <p:cNvPr id="7" name="research card"/>
          <p:cNvSpPr/>
          <p:nvPr/>
        </p:nvSpPr>
        <p:spPr>
          <a:xfrm>
            <a:off x="3273552" y="10972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2152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boys aged 15–19 in Bihar &amp; UP reported exposure to pornography (6% of girls); own phone raised the odds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[S4] Population Council, UDAYA 2015–16</a:t>
            </a:r>
            <a:endParaRPr lang="en-US" sz="950" dirty="0"/>
          </a:p>
        </p:txBody>
      </p:sp>
      <p:sp>
        <p:nvSpPr>
          <p:cNvPr id="11" name="research card"/>
          <p:cNvSpPr/>
          <p:nvPr/>
        </p:nvSpPr>
        <p:spPr>
          <a:xfrm>
            <a:off x="6089904" y="10972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18504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in 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318504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said they’d be extremely uncomfortable having “the talk”; a third of children said they never could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[S3] ParentCircle–IMRB, 2015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the market: schools and NGOs reach teens; articles explain why. Nothing prepares the parent for one specific talk and closes the loop after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 insights: what each side thinks of the other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THINKS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THINKS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RAISE…</a:t>
            </a:r>
            <a:endParaRPr lang="en-US" sz="1100" dirty="0"/>
          </a:p>
        </p:txBody>
      </p:sp>
      <p:sp>
        <p:nvSpPr>
          <p:cNvPr id="6" name="p"/>
          <p:cNvSpPr/>
          <p:nvPr/>
        </p:nvSpPr>
        <p:spPr>
          <a:xfrm>
            <a:off x="457200" y="132588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7" name="t"/>
          <p:cNvSpPr/>
          <p:nvPr/>
        </p:nvSpPr>
        <p:spPr>
          <a:xfrm>
            <a:off x="3291840" y="132588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8" name="r"/>
          <p:cNvSpPr/>
          <p:nvPr/>
        </p:nvSpPr>
        <p:spPr>
          <a:xfrm>
            <a:off x="6126480" y="132588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“Checking his phone keeps him safe.”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they check, so I delete chats.”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325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offers monitoring</a:t>
            </a:r>
            <a:endParaRPr lang="en-US" sz="1250" dirty="0"/>
          </a:p>
        </p:txBody>
      </p:sp>
      <p:sp>
        <p:nvSpPr>
          <p:cNvPr id="12" name="p"/>
          <p:cNvSpPr/>
          <p:nvPr/>
        </p:nvSpPr>
        <p:spPr>
          <a:xfrm>
            <a:off x="457200" y="2075688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3" name="t"/>
          <p:cNvSpPr/>
          <p:nvPr/>
        </p:nvSpPr>
        <p:spPr>
          <a:xfrm>
            <a:off x="3291840" y="2075688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14" name="r"/>
          <p:cNvSpPr/>
          <p:nvPr/>
        </p:nvSpPr>
        <p:spPr>
          <a:xfrm>
            <a:off x="6126480" y="2075688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0756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 don’t know the answer, I lose respect.”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0756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“‘Let’s find out’ feels real.”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0756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“I don’t know” as a good answer</a:t>
            </a:r>
            <a:endParaRPr lang="en-US" sz="1250" dirty="0"/>
          </a:p>
        </p:txBody>
      </p:sp>
      <p:sp>
        <p:nvSpPr>
          <p:cNvPr id="18" name="p"/>
          <p:cNvSpPr/>
          <p:nvPr/>
        </p:nvSpPr>
        <p:spPr>
          <a:xfrm>
            <a:off x="457200" y="2825496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9" name="t"/>
          <p:cNvSpPr/>
          <p:nvPr/>
        </p:nvSpPr>
        <p:spPr>
          <a:xfrm>
            <a:off x="3291840" y="2825496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20" name="r"/>
          <p:cNvSpPr/>
          <p:nvPr/>
        </p:nvSpPr>
        <p:spPr>
          <a:xfrm>
            <a:off x="6126480" y="2825496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8254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proper sit-down shows it matters.”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28254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sit-down means I’m in trouble.”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82549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sideways openers</a:t>
            </a:r>
            <a:endParaRPr lang="en-US" sz="1250" dirty="0"/>
          </a:p>
        </p:txBody>
      </p:sp>
      <p:sp>
        <p:nvSpPr>
          <p:cNvPr id="24" name="p"/>
          <p:cNvSpPr/>
          <p:nvPr/>
        </p:nvSpPr>
        <p:spPr>
          <a:xfrm>
            <a:off x="457200" y="3575304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5" name="t"/>
          <p:cNvSpPr/>
          <p:nvPr/>
        </p:nvSpPr>
        <p:spPr>
          <a:xfrm>
            <a:off x="3291840" y="3575304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26" name="r"/>
          <p:cNvSpPr/>
          <p:nvPr/>
        </p:nvSpPr>
        <p:spPr>
          <a:xfrm>
            <a:off x="6126480" y="3575304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5753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“He’ll come to me if something’s wrong.”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57530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“I’d tell a friend — they’d take my phone.”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57530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with a safety promise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guide: 23 parent + 30 teen questions. Answers shown are illustrative composites — replace with real interview notes.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completed conversation — not app opens, not time in app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Completed Conversation passes three gates</a:t>
            </a:r>
            <a:endParaRPr lang="en-US" sz="2400" dirty="0"/>
          </a:p>
        </p:txBody>
      </p:sp>
      <p:sp>
        <p:nvSpPr>
          <p:cNvPr id="3" name="gate"/>
          <p:cNvSpPr/>
          <p:nvPr/>
        </p:nvSpPr>
        <p:spPr>
          <a:xfrm>
            <a:off x="457200" y="10972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Prepared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7276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prep steps viewed and an opener chosen</a:t>
            </a:r>
            <a:endParaRPr lang="en-US" sz="1250" dirty="0"/>
          </a:p>
        </p:txBody>
      </p:sp>
      <p:sp>
        <p:nvSpPr>
          <p:cNvPr id="6" name="gate"/>
          <p:cNvSpPr/>
          <p:nvPr/>
        </p:nvSpPr>
        <p:spPr>
          <a:xfrm>
            <a:off x="2788920" y="10972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53512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Time passed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953512" y="157276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“I’ve had it” tapped ≥ 20 min after prep (assumption)</a:t>
            </a:r>
            <a:endParaRPr lang="en-US" sz="1250" dirty="0"/>
          </a:p>
        </p:txBody>
      </p:sp>
      <p:sp>
        <p:nvSpPr>
          <p:cNvPr id="9" name="gate"/>
          <p:cNvSpPr/>
          <p:nvPr/>
        </p:nvSpPr>
        <p:spPr>
          <a:xfrm>
            <a:off x="5120640" y="109728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85232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Reflected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157276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7 days: outcome + a chip or a note</a:t>
            </a:r>
            <a:endParaRPr lang="en-US" sz="1250" dirty="0"/>
          </a:p>
        </p:txBody>
      </p:sp>
      <p:sp>
        <p:nvSpPr>
          <p:cNvPr id="12" name="cc"/>
          <p:cNvSpPr/>
          <p:nvPr/>
        </p:nvSpPr>
        <p:spPr>
          <a:xfrm>
            <a:off x="7452360" y="1097280"/>
            <a:ext cx="1234440" cy="1325880"/>
          </a:xfrm>
          <a:prstGeom prst="roundRect">
            <a:avLst>
              <a:gd name="adj" fmla="val 8889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1097280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 CC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parent who did nothing can’t inflate 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time and detail gates block tap-through fakes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streaks, points or badges — nothing to win by lying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fake “went well” gives the parent worse advice next time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opt-in, anonymous teen check on a small sample to estimate how many CCs are real</a:t>
            </a:r>
            <a:endParaRPr lang="en-US" sz="1300" dirty="0"/>
          </a:p>
        </p:txBody>
      </p:sp>
      <p:sp>
        <p:nvSpPr>
          <p:cNvPr id="16" name="limit"/>
          <p:cNvSpPr/>
          <p:nvPr/>
        </p:nvSpPr>
        <p:spPr>
          <a:xfrm>
            <a:off x="5852160" y="274320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28803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A3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teen check exists, CC is a well-defended self-report — not a verified fact.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behaviour that has to change</a:t>
            </a:r>
            <a:endParaRPr lang="en-US" sz="2400" dirty="0"/>
          </a:p>
        </p:txBody>
      </p:sp>
      <p:sp>
        <p:nvSpPr>
          <p:cNvPr id="3" name="behaviour"/>
          <p:cNvSpPr/>
          <p:nvPr/>
        </p:nvSpPr>
        <p:spPr>
          <a:xfrm>
            <a:off x="457200" y="11887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parent says the opener out loud to their teen within 72 hours of finishing the prep.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mentally, postpone to “this weekend” — which never comes.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→ Talk within 72 hours.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target: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talk “went well”. Rewarding good outcomes would reward steering, not listening.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first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features, each tied to an insight · RICE · V1, V2, Cut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RICE: core prep loop first, safety overrides the score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verrides"/>
          <p:cNvSpPr/>
          <p:nvPr/>
        </p:nvSpPr>
        <p:spPr>
          <a:xfrm>
            <a:off x="5989320" y="1051560"/>
            <a:ext cx="2697480" cy="3429000"/>
          </a:xfrm>
          <a:prstGeom prst="roundRect">
            <a:avLst>
              <a:gd name="adj" fmla="val 4068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18872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Safety escalation is V1 despite a low score — missing a grooming or self-harm disclosure is unacceptable.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scores lower only because it’s the biggest build; F2–F5 are parts of it.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Hindi is the first V2 item: language is part of the vocabulary gap.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Reach, impact, confidence and effort are team estimates — re-score after the pilot.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MVP: one evening, sign-up to a real conversation</a:t>
            </a:r>
            <a:endParaRPr lang="en-US" sz="2400" dirty="0"/>
          </a:p>
        </p:txBody>
      </p:sp>
      <p:sp>
        <p:nvSpPr>
          <p:cNvPr id="3" name="mvp col"/>
          <p:cNvSpPr/>
          <p:nvPr/>
        </p:nvSpPr>
        <p:spPr>
          <a:xfrm>
            <a:off x="457200" y="105156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build now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prep guide (6 topics)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Openers, Anticipate, Avoid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card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tone: 14–15 · 16–17 · 18–19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+ next talk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escalation cards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for the CC gates</a:t>
            </a:r>
            <a:endParaRPr lang="en-US" sz="1250" dirty="0"/>
          </a:p>
        </p:txBody>
      </p:sp>
      <p:sp>
        <p:nvSpPr>
          <p:cNvPr id="6" name="mvp col"/>
          <p:cNvSpPr/>
          <p:nvPr/>
        </p:nvSpPr>
        <p:spPr>
          <a:xfrm>
            <a:off x="3273552" y="105156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56432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after the loop works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1572768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Hinglish library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Pick-your-moment reminders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Co-parent sharing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rephrasing of approved content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teen check</a:t>
            </a:r>
            <a:endParaRPr lang="en-US" sz="1250" dirty="0"/>
          </a:p>
        </p:txBody>
      </p:sp>
      <p:sp>
        <p:nvSpPr>
          <p:cNvPr id="9" name="mvp col"/>
          <p:cNvSpPr/>
          <p:nvPr/>
        </p:nvSpPr>
        <p:spPr>
          <a:xfrm>
            <a:off x="6089904" y="1051560"/>
            <a:ext cx="2606040" cy="3337560"/>
          </a:xfrm>
          <a:prstGeom prst="roundRect">
            <a:avLst>
              <a:gd name="adj" fmla="val 4211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2784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· will not build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72784" y="1572768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Teen-facing app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monitoring or tracking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AI chat about the teen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points, badges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dashboards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boundaries and escalation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8A3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never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Monitors, records or contacts the teen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Diagnoses, suggests medication or gives legal advice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explicit or shaming content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 talk about abuse or self-harm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stays current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gate + expert review before publishing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review; scams and online safety monthly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queue from “couldn’t answer” reflections</a:t>
            </a:r>
            <a:endParaRPr lang="en-US" sz="1300" dirty="0"/>
          </a:p>
        </p:txBody>
      </p:sp>
      <p:sp>
        <p:nvSpPr>
          <p:cNvPr id="5" name="level"/>
          <p:cNvSpPr/>
          <p:nvPr/>
        </p:nvSpPr>
        <p:spPr>
          <a:xfrm>
            <a:off x="4023360" y="1051560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60520" y="1051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12471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+ next talk</a:t>
            </a:r>
            <a:endParaRPr lang="en-US" sz="1200" dirty="0"/>
          </a:p>
        </p:txBody>
      </p:sp>
      <p:sp>
        <p:nvSpPr>
          <p:cNvPr id="8" name="level"/>
          <p:cNvSpPr/>
          <p:nvPr/>
        </p:nvSpPr>
        <p:spPr>
          <a:xfrm>
            <a:off x="4023360" y="1892808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1892808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3 stalls in a row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 break or school counsellor</a:t>
            </a:r>
            <a:endParaRPr lang="en-US" sz="1200" dirty="0"/>
          </a:p>
        </p:txBody>
      </p:sp>
      <p:sp>
        <p:nvSpPr>
          <p:cNvPr id="11" name="level"/>
          <p:cNvSpPr/>
          <p:nvPr/>
        </p:nvSpPr>
        <p:spPr>
          <a:xfrm>
            <a:off x="4023360" y="2734056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273405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072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stranger contact, photo threats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Crime 1930 / cybercrime.gov.in · Childline 1098</a:t>
            </a:r>
            <a:endParaRPr lang="en-US" sz="1200" dirty="0"/>
          </a:p>
        </p:txBody>
      </p:sp>
      <p:sp>
        <p:nvSpPr>
          <p:cNvPr id="14" name="level"/>
          <p:cNvSpPr/>
          <p:nvPr/>
        </p:nvSpPr>
        <p:spPr>
          <a:xfrm>
            <a:off x="4023360" y="3575304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F3D6CC"/>
          </a:solidFill>
          <a:ln w="12700">
            <a:solidFill>
              <a:srgbClr val="F3D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3575304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6484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· self-harm, abuse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Tele-MANAS 14416 · 112 · 1098 · no script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Helpline numbers to be re-verified before launch.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· Talk · Reflect · Next — PRD, flows, journeys and wireframes in the companion document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flow, as built</a:t>
            </a:r>
            <a:endParaRPr lang="en-US" sz="2400" dirty="0"/>
          </a:p>
        </p:txBody>
      </p:sp>
      <p:pic>
        <p:nvPicPr>
          <p:cNvPr id="3" name="flow diagram" descr="/home/claude/diag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26888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journey maps tested the flow: Sunita’s first talk, Rajesh repairing after a bad attempt, and Farah’s talk that surfaced a disclosure — which is how the missing safety card was found.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screens</a:t>
            </a:r>
            <a:endParaRPr lang="en-US" sz="2400" dirty="0"/>
          </a:p>
        </p:txBody>
      </p:sp>
      <p:pic>
        <p:nvPicPr>
          <p:cNvPr id="3" name="Pick a topic" descr="/home/claude/shots/top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1478858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206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</a:t>
            </a:r>
            <a:endParaRPr lang="en-US" sz="1100" dirty="0"/>
          </a:p>
        </p:txBody>
      </p:sp>
      <p:pic>
        <p:nvPicPr>
          <p:cNvPr id="5" name="Choose an opener" descr="/home/claude/shots/pre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960120"/>
            <a:ext cx="1478858" cy="3200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176272" y="4206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opener</a:t>
            </a:r>
            <a:endParaRPr lang="en-US" sz="1100" dirty="0"/>
          </a:p>
        </p:txBody>
      </p:sp>
      <p:pic>
        <p:nvPicPr>
          <p:cNvPr id="7" name="Anticipate" descr="/home/claude/shots/pre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960120"/>
            <a:ext cx="1478858" cy="32004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849624" y="4206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</a:t>
            </a:r>
            <a:endParaRPr lang="en-US" sz="1100" dirty="0"/>
          </a:p>
        </p:txBody>
      </p:sp>
      <p:pic>
        <p:nvPicPr>
          <p:cNvPr id="9" name="Pocket card" descr="/home/claude/shots/read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976" y="960120"/>
            <a:ext cx="1478858" cy="3200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522976" y="4206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card</a:t>
            </a:r>
            <a:endParaRPr lang="en-US" sz="1100" dirty="0"/>
          </a:p>
        </p:txBody>
      </p:sp>
      <p:pic>
        <p:nvPicPr>
          <p:cNvPr id="11" name="Insight + next" descr="/home/claude/shots/ins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960120"/>
            <a:ext cx="1478858" cy="32004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196328" y="4206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+ next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MVP is live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https://shuklahimanshu20.github.io/Raise_project/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prototype + a content engine that filters content</a:t>
            </a:r>
            <a:endParaRPr lang="en-US" sz="2400" dirty="0"/>
          </a:p>
        </p:txBody>
      </p:sp>
      <p:pic>
        <p:nvPicPr>
          <p:cNvPr id="3" name="home screen" descr="/home/claude/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1605617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28600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indent="0" marL="0">
              <a:buNone/>
            </a:pPr>
            <a:r>
              <a:rPr lang="en-US" sz="1250" u="sng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shuklahimanshu20.github.io/Raise_project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screens · 6 topics · 54 library items · rule-based next-talk logic</a:t>
            </a:r>
            <a:endParaRPr lang="en-US" sz="1250" dirty="0"/>
          </a:p>
        </p:txBody>
      </p:sp>
      <p:sp>
        <p:nvSpPr>
          <p:cNvPr id="5" name="engine stat"/>
          <p:cNvSpPr/>
          <p:nvPr/>
        </p:nvSpPr>
        <p:spPr>
          <a:xfrm>
            <a:off x="2286000" y="16916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423160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/ 54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items pass (2 via logged human review)</a:t>
            </a:r>
            <a:endParaRPr lang="en-US" sz="1100" dirty="0"/>
          </a:p>
        </p:txBody>
      </p:sp>
      <p:sp>
        <p:nvSpPr>
          <p:cNvPr id="8" name="engine stat"/>
          <p:cNvSpPr/>
          <p:nvPr/>
        </p:nvSpPr>
        <p:spPr>
          <a:xfrm>
            <a:off x="4462272" y="16916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99432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99432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items filtered out</a:t>
            </a:r>
            <a:endParaRPr lang="en-US" sz="1100" dirty="0"/>
          </a:p>
        </p:txBody>
      </p:sp>
      <p:sp>
        <p:nvSpPr>
          <p:cNvPr id="11" name="engine stat"/>
          <p:cNvSpPr/>
          <p:nvPr/>
        </p:nvSpPr>
        <p:spPr>
          <a:xfrm>
            <a:off x="6638544" y="1691640"/>
            <a:ext cx="2011680" cy="1234440"/>
          </a:xfrm>
          <a:prstGeom prst="roundRect">
            <a:avLst>
              <a:gd name="adj" fmla="val 8889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75704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775704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notes escalated in the demo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31089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8A3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so ungrateful…” (shame) · “Install a tracking app and read their chats at night” (covert surveillance) · “…clearly depressed and need medication” (diagnosis) · unsourced “9 out of 10” stats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build log shows: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missed the diagnosis tip and over-blocked two safe lines; v1.1 fixed the rule and added logged review overrides. The engine is a first filter — human review stays mandatory.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we’ll know it works — and when it’s harming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Star, leading indicators, guardrails, one experiment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Star: Completed Conversations per month</a:t>
            </a:r>
            <a:endParaRPr lang="en-US" sz="2400" dirty="0"/>
          </a:p>
        </p:txBody>
      </p:sp>
      <p:sp>
        <p:nvSpPr>
          <p:cNvPr id="3" name="nsm"/>
          <p:cNvSpPr/>
          <p:nvPr/>
        </p:nvSpPr>
        <p:spPr>
          <a:xfrm>
            <a:off x="457200" y="100584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one thing Raise exists to cause. Time in app is deliberately not a goal.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→ Talk within 72 h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completion rate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reflection rate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Next-talk start within its window</a:t>
            </a:r>
            <a:endParaRPr lang="en-US" sz="1250" dirty="0"/>
          </a:p>
        </p:txBody>
      </p:sp>
      <p:sp>
        <p:nvSpPr>
          <p:cNvPr id="6" name="guardrails"/>
          <p:cNvSpPr/>
          <p:nvPr/>
        </p:nvSpPr>
        <p:spPr>
          <a:xfrm>
            <a:off x="4663440" y="100584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257800" y="1143000"/>
            <a:ext cx="3291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8A3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is doing harm if…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risk note is missed by escalation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stall 3+ times in a row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report the teen got upset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ask for monitoring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app per conversation rises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uninstall right after a stall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3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numbers: the prototype has no analytics yet — user metrics are not tracked. Targets to set from the pilot baseline.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experiment: “Pick your moment”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parents pick a specific moment (tonight at dinner, next car ride, weekend walk) at the end of prep, more will start within 72 hours.</a:t>
            </a:r>
            <a:endParaRPr lang="en-US" sz="1400" dirty="0"/>
          </a:p>
        </p:txBody>
      </p:sp>
      <p:sp>
        <p:nvSpPr>
          <p:cNvPr id="4" name="exp"/>
          <p:cNvSpPr/>
          <p:nvPr/>
        </p:nvSpPr>
        <p:spPr>
          <a:xfrm>
            <a:off x="457200" y="201168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will you try it?” + one reminder then</a:t>
            </a:r>
            <a:endParaRPr lang="en-US" sz="1250" dirty="0"/>
          </a:p>
        </p:txBody>
      </p:sp>
      <p:sp>
        <p:nvSpPr>
          <p:cNvPr id="6" name="exp"/>
          <p:cNvSpPr/>
          <p:nvPr/>
        </p:nvSpPr>
        <p:spPr>
          <a:xfrm>
            <a:off x="4663440" y="201168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flow: “I’ve had it” / “Save for later”</a:t>
            </a:r>
            <a:endParaRPr lang="en-US" sz="1250" dirty="0"/>
          </a:p>
        </p:txBody>
      </p:sp>
      <p:sp>
        <p:nvSpPr>
          <p:cNvPr id="8" name="exp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DCEBDD"/>
          </a:solidFill>
          <a:ln w="12700">
            <a:solidFill>
              <a:srgbClr val="DCEB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→ Talk within 72 hours</a:t>
            </a:r>
            <a:endParaRPr lang="en-US" sz="1250" dirty="0"/>
          </a:p>
        </p:txBody>
      </p:sp>
      <p:sp>
        <p:nvSpPr>
          <p:cNvPr id="10" name="exp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3063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opt-outs · repeated stalls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Dependency: reminders need push or WhatsApp — run after the app wrapper. Sample size set once the pilot gives a baseline.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to parents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first, then the groups and experts parents already trust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GTM: reach parents where they already listen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75488" cy="475488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07" y="1110447"/>
            <a:ext cx="266273" cy="26627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05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 </a:t>
            </a:r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card at parent–teacher meetings via counsellors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673352"/>
            <a:ext cx="475488" cy="475488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07" y="1777959"/>
            <a:ext cx="266273" cy="2662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673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groups  </a:t>
            </a:r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Forwardable topic cards linking into a guide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" y="2340864"/>
            <a:ext cx="475488" cy="475488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7" y="2445471"/>
            <a:ext cx="266273" cy="26627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23408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&amp; counsellors  </a:t>
            </a:r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as homework between visits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7200" y="3008376"/>
            <a:ext cx="475488" cy="475488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07" y="3112983"/>
            <a:ext cx="266273" cy="26627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30083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 </a:t>
            </a:r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Hindi/Hinglish creators show one real opener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57200" y="3675888"/>
            <a:ext cx="475488" cy="475488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07" y="3780495"/>
            <a:ext cx="266273" cy="26627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3675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Workplaces  </a:t>
            </a:r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talks for working parents 35–60</a:t>
            </a:r>
            <a:endParaRPr lang="en-US" sz="1250" dirty="0"/>
          </a:p>
        </p:txBody>
      </p:sp>
      <p:sp>
        <p:nvSpPr>
          <p:cNvPr id="18" name="pitch"/>
          <p:cNvSpPr/>
          <p:nvPr/>
        </p:nvSpPr>
        <p:spPr>
          <a:xfrm>
            <a:off x="5120640" y="10058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349240" y="1143000"/>
            <a:ext cx="3154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25-second pitch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know that talk you keep putting off with your teen — about their body, their phone, money or relationships? Raise gives you five minutes of preparation: the first sentence, what they might ask back, and what to avoid. Then you talk — offline, in your own words. Your teen never sees the app. Want to try one talk this week?”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parents of Class 9–12 students in the launch city (to confirm). Free during pilot.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 loop and churn plan</a:t>
            </a:r>
            <a:endParaRPr lang="en-US" sz="2400" dirty="0"/>
          </a:p>
        </p:txBody>
      </p:sp>
      <p:pic>
        <p:nvPicPr>
          <p:cNvPr id="3" name="habit loop" descr="/home/claude/diag/ha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572000" cy="25479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2120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plan</a:t>
            </a:r>
            <a:endParaRPr lang="en-US" sz="1500" dirty="0"/>
          </a:p>
        </p:txBody>
      </p:sp>
      <p:sp>
        <p:nvSpPr>
          <p:cNvPr id="5" name="churn"/>
          <p:cNvSpPr/>
          <p:nvPr/>
        </p:nvSpPr>
        <p:spPr>
          <a:xfrm>
            <a:off x="5212080" y="1325880"/>
            <a:ext cx="3474720" cy="530352"/>
          </a:xfrm>
          <a:prstGeom prst="roundRect">
            <a:avLst>
              <a:gd name="adj" fmla="val 20690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49240" y="136245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started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nudge to the easiest topic: money</a:t>
            </a:r>
            <a:endParaRPr lang="en-US" sz="1100" dirty="0"/>
          </a:p>
        </p:txBody>
      </p:sp>
      <p:sp>
        <p:nvSpPr>
          <p:cNvPr id="7" name="churn"/>
          <p:cNvSpPr/>
          <p:nvPr/>
        </p:nvSpPr>
        <p:spPr>
          <a:xfrm>
            <a:off x="5212080" y="1929384"/>
            <a:ext cx="3474720" cy="530352"/>
          </a:xfrm>
          <a:prstGeom prst="roundRect">
            <a:avLst>
              <a:gd name="adj" fmla="val 20690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19659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Prepared, never talked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opener + pick your moment</a:t>
            </a:r>
            <a:endParaRPr lang="en-US" sz="1100" dirty="0"/>
          </a:p>
        </p:txBody>
      </p:sp>
      <p:sp>
        <p:nvSpPr>
          <p:cNvPr id="9" name="churn"/>
          <p:cNvSpPr/>
          <p:nvPr/>
        </p:nvSpPr>
        <p:spPr>
          <a:xfrm>
            <a:off x="5212080" y="2532888"/>
            <a:ext cx="3474720" cy="530352"/>
          </a:xfrm>
          <a:prstGeom prst="roundRect">
            <a:avLst>
              <a:gd name="adj" fmla="val 20690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49240" y="25694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and left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stall isn’t failure” + side-by-side tip</a:t>
            </a:r>
            <a:endParaRPr lang="en-US" sz="1100" dirty="0"/>
          </a:p>
        </p:txBody>
      </p:sp>
      <p:sp>
        <p:nvSpPr>
          <p:cNvPr id="11" name="churn"/>
          <p:cNvSpPr/>
          <p:nvPr/>
        </p:nvSpPr>
        <p:spPr>
          <a:xfrm>
            <a:off x="5212080" y="3136392"/>
            <a:ext cx="3474720" cy="530352"/>
          </a:xfrm>
          <a:prstGeom prst="roundRect">
            <a:avLst>
              <a:gd name="adj" fmla="val 20690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49240" y="31729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everything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life moments: exams, first job</a:t>
            </a:r>
            <a:endParaRPr lang="en-US" sz="1100" dirty="0"/>
          </a:p>
        </p:txBody>
      </p:sp>
      <p:sp>
        <p:nvSpPr>
          <p:cNvPr id="13" name="churn"/>
          <p:cNvSpPr/>
          <p:nvPr/>
        </p:nvSpPr>
        <p:spPr>
          <a:xfrm>
            <a:off x="5212080" y="3739896"/>
            <a:ext cx="3474720" cy="530352"/>
          </a:xfrm>
          <a:prstGeom prst="roundRect">
            <a:avLst>
              <a:gd name="adj" fmla="val 20690"/>
            </a:avLst>
          </a:prstGeom>
          <a:solidFill>
            <a:srgbClr val="FBEBC8"/>
          </a:solidFill>
          <a:ln w="12700">
            <a:solidFill>
              <a:srgbClr val="FBEBC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37764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win-back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messages max, then stop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"/>
          <p:cNvSpPr/>
          <p:nvPr/>
        </p:nvSpPr>
        <p:spPr>
          <a:xfrm>
            <a:off x="6675120" y="1188720"/>
            <a:ext cx="3108960" cy="310896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3" name="motif small"/>
          <p:cNvSpPr/>
          <p:nvPr/>
        </p:nvSpPr>
        <p:spPr>
          <a:xfrm>
            <a:off x="6400800" y="640080"/>
            <a:ext cx="822960" cy="822960"/>
          </a:xfrm>
          <a:prstGeom prst="ellipse">
            <a:avLst/>
          </a:prstGeom>
          <a:solidFill>
            <a:srgbClr val="8FB8A0"/>
          </a:solidFill>
          <a:ln w="12700">
            <a:solidFill>
              <a:srgbClr val="8FB8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90372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6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trade-offs and what I’m unsure about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BD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 and how we reduce them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97280"/>
                <a:gridCol w="1097280"/>
                <a:gridCol w="3383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Disclosure gets a normal tip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cards in 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or outdated advice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gate + expert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of notes about a minor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data, encryption, one-tap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 feels scripted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“Say it your way”, short openers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monitoring, 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Drop-off after one talk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Next-talk loop + reminders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and impact are team judgements.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4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Trade-offs, and the decision I’m unsure about</a:t>
            </a:r>
            <a:endParaRPr lang="en-US" sz="2400" dirty="0"/>
          </a:p>
        </p:txBody>
      </p:sp>
      <p:sp>
        <p:nvSpPr>
          <p:cNvPr id="3" name="tradeoff"/>
          <p:cNvSpPr/>
          <p:nvPr/>
        </p:nvSpPr>
        <p:spPr>
          <a:xfrm>
            <a:off x="457200" y="1005840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789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Parent-only </a:t>
            </a:r>
            <a:pPr indent="0" marL="0">
              <a:buNone/>
            </a:pPr>
            <a:r>
              <a:rPr lang="en-US" sz="12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shared app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up: proof a talk happened</a:t>
            </a:r>
            <a:endParaRPr lang="en-US" sz="1250" dirty="0"/>
          </a:p>
        </p:txBody>
      </p:sp>
      <p:sp>
        <p:nvSpPr>
          <p:cNvPr id="5" name="tradeoff"/>
          <p:cNvSpPr/>
          <p:nvPr/>
        </p:nvSpPr>
        <p:spPr>
          <a:xfrm>
            <a:off x="457200" y="1810512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8366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library </a:t>
            </a:r>
            <a:pPr indent="0" marL="0">
              <a:buNone/>
            </a:pPr>
            <a:r>
              <a:rPr lang="en-US" sz="12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generative AI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up: deep personalisation</a:t>
            </a:r>
            <a:endParaRPr lang="en-US" sz="1250" dirty="0"/>
          </a:p>
        </p:txBody>
      </p:sp>
      <p:sp>
        <p:nvSpPr>
          <p:cNvPr id="7" name="tradeoff"/>
          <p:cNvSpPr/>
          <p:nvPr/>
        </p:nvSpPr>
        <p:spPr>
          <a:xfrm>
            <a:off x="457200" y="2615184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883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gamification </a:t>
            </a:r>
            <a:pPr indent="0" marL="0">
              <a:buNone/>
            </a:pPr>
            <a:r>
              <a:rPr lang="en-US" sz="12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streaks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up: an easy retention lever</a:t>
            </a:r>
            <a:endParaRPr lang="en-US" sz="1250" dirty="0"/>
          </a:p>
        </p:txBody>
      </p:sp>
      <p:sp>
        <p:nvSpPr>
          <p:cNvPr id="9" name="tradeoff"/>
          <p:cNvSpPr/>
          <p:nvPr/>
        </p:nvSpPr>
        <p:spPr>
          <a:xfrm>
            <a:off x="457200" y="3419856"/>
            <a:ext cx="4023360" cy="713232"/>
          </a:xfrm>
          <a:prstGeom prst="roundRect">
            <a:avLst>
              <a:gd name="adj" fmla="val 15385"/>
            </a:avLst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93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web </a:t>
            </a:r>
            <a:pPr indent="0" marL="0">
              <a:buNone/>
            </a:pPr>
            <a:r>
              <a:rPr lang="en-US" sz="1250" dirty="0">
                <a:solidFill>
                  <a:srgbClr val="4E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native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up: push reminders (for now)</a:t>
            </a:r>
            <a:endParaRPr lang="en-US" sz="1250" dirty="0"/>
          </a:p>
        </p:txBody>
      </p:sp>
      <p:sp>
        <p:nvSpPr>
          <p:cNvPr id="11" name="reflection"/>
          <p:cNvSpPr/>
          <p:nvPr/>
        </p:nvSpPr>
        <p:spPr>
          <a:xfrm>
            <a:off x="4754880" y="1005840"/>
            <a:ext cx="3931920" cy="3127248"/>
          </a:xfrm>
          <a:prstGeom prst="roundRect">
            <a:avLst>
              <a:gd name="adj" fmla="val 3509"/>
            </a:avLst>
          </a:prstGeom>
          <a:solidFill>
            <a:srgbClr val="EADFF1"/>
          </a:solidFill>
          <a:ln w="12700">
            <a:solidFill>
              <a:srgbClr val="EADFF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61288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349240" y="114300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4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teen out of the product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believe teens won’t trust an app their parent installed — so V1 is parent-only. But then every number is the parent’s account of the parent’s own effort. A parent who lectured for 20 minutes may still log “went well”. If an opt-in teen check disagrees with parents too often, I’ll revisit this.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B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 talk this week.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change age bands to 14–19 · add escalation cards, saving and analytics · run real interviews · pilot with parents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949440" y="-548640"/>
            <a:ext cx="2743200" cy="274320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pic>
        <p:nvPicPr>
          <p:cNvPr id="5" name="go talk screen" descr="/home/claude/shots/r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411480"/>
            <a:ext cx="1985895" cy="4297680"/>
          </a:xfrm>
          <a:prstGeom prst="rect">
            <a:avLst/>
          </a:prstGeom>
        </p:spPr>
      </p:pic>
      <p:sp>
        <p:nvSpPr>
          <p:cNvPr id="6" name="Text 3">
            <a:hlinkClick r:id="rId2" tooltip=""/>
          </p:cNvPr>
          <p:cNvSpPr txBox="1"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it: https://shuklahimanshu20.github.io/Raise_project/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ise">
  <a:themeElements>
    <a:clrScheme name="Raise">
      <a:dk1>
        <a:srgbClr val="15201A"/>
      </a:dk1>
      <a:lt1>
        <a:srgbClr val="FFFFFF"/>
      </a:lt1>
      <a:dk2>
        <a:srgbClr val="1E4D3B"/>
      </a:dk2>
      <a:lt2>
        <a:srgbClr val="F2F4EF"/>
      </a:lt2>
      <a:accent1>
        <a:srgbClr val="1E4D3B"/>
      </a:accent1>
      <a:accent2>
        <a:srgbClr val="F2B441"/>
      </a:accent2>
      <a:accent3>
        <a:srgbClr val="DCEBDD"/>
      </a:accent3>
      <a:accent4>
        <a:srgbClr val="FBEBC8"/>
      </a:accent4>
      <a:accent5>
        <a:srgbClr val="8A3517"/>
      </a:accent5>
      <a:accent6>
        <a:srgbClr val="4E5B53"/>
      </a:accent6>
      <a:hlink>
        <a:srgbClr val="1E4D3B"/>
      </a:hlink>
      <a:folHlink>
        <a:srgbClr val="4E5B53"/>
      </a:folHlink>
    </a:clrScheme>
    <a:fontScheme name="Ra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Raise — The talks that matter, prepared</dc:title>
  <dc:subject>PptxGenJS Presentation</dc:subject>
  <dc:creator>Himanshu Shukla</dc:creator>
  <cp:lastModifiedBy>Himanshu Shukla</cp:lastModifiedBy>
  <cp:revision>1</cp:revision>
  <dcterms:created xsi:type="dcterms:W3CDTF">2026-10-02T08:23:30Z</dcterms:created>
  <dcterms:modified xsi:type="dcterms:W3CDTF">2026-10-02T08:23:30Z</dcterms:modified>
</cp:coreProperties>
</file>